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everyone — today I'll walk you through RAG, which stands for Retrieval-Augmented Generation.</a:t>
            </a:r>
            <a:br>
              <a:rPr lang="en-US"/>
            </a:br>
            <a:r>
              <a:rPr lang="en-US"/>
              <a:t>This is a 15-minute session, so we'll keep it tight and practical.</a:t>
            </a:r>
            <a:br>
              <a:rPr lang="en-US"/>
            </a:br>
            <a:r>
              <a:rPr lang="en-US"/>
              <a:t>At the end I'll show you a small demo I built — you upload a document and ask questions from it.</a:t>
            </a:r>
            <a:br>
              <a:rPr lang="en-US"/>
            </a:br>
            <a:r>
              <a:rPr lang="en-US"/>
              <a:t>Let's start with the basics.</a:t>
            </a: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 stands for Retrieval-Augmented Generation.</a:t>
            </a:r>
            <a:br>
              <a:rPr lang="en-US"/>
            </a:br>
            <a:r>
              <a:rPr lang="en-US"/>
              <a:t>Break it down word by word — Retrieval means we go and FETCH relevant information first.</a:t>
            </a:r>
            <a:br>
              <a:rPr lang="en-US"/>
            </a:br>
            <a:r>
              <a:rPr lang="en-US"/>
              <a:t>Augmented means we ADD that information to the AI's context.</a:t>
            </a:r>
            <a:br>
              <a:rPr lang="en-US"/>
            </a:br>
            <a:r>
              <a:rPr lang="en-US"/>
              <a:t>Generation is what the AI does — it writes out the final answer.</a:t>
            </a:r>
            <a:br>
              <a:rPr lang="en-US"/>
            </a:br>
            <a:r>
              <a:rPr lang="en-US"/>
              <a:t>The key idea: instead of the AI just relying on what it learned during training, we GIVE it the right information at the time of the question.</a:t>
            </a:r>
            <a:br>
              <a:rPr lang="en-US"/>
            </a:br>
            <a:r>
              <a:rPr lang="en-US"/>
              <a:t>Analogy: imagine an open-book exam. The AI isn't memorizing everything — it looks it up, then answers.</a:t>
            </a: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problem with standard LLMs — they only know what they were trained on.</a:t>
            </a:r>
            <a:br>
              <a:rPr lang="en-US"/>
            </a:br>
            <a:r>
              <a:rPr lang="en-US"/>
              <a:t>If you ask GPT about your company's internal policy document, it has no idea. It will either say "I don't know" or worse — make something up. That's called hallucination.</a:t>
            </a:r>
            <a:br>
              <a:rPr lang="en-US"/>
            </a:br>
            <a:r>
              <a:rPr lang="en-US"/>
              <a:t>Also, training data has a cutoff date. So any new information is invisible to the model.</a:t>
            </a:r>
            <a:br>
              <a:rPr lang="en-US"/>
            </a:br>
            <a:r>
              <a:rPr lang="en-US"/>
              <a:t>RAG solves this by connecting the AI to YOUR data — your documents, your database, your knowledge base.</a:t>
            </a:r>
            <a:br>
              <a:rPr lang="en-US"/>
            </a:br>
            <a:r>
              <a:rPr lang="en-US"/>
              <a:t>The AI doesn't guess anymore — it reads the relevant part of YOUR document and THEN answers.</a:t>
            </a:r>
            <a:endParaRPr/>
          </a:p>
        </p:txBody>
      </p:sp>
      <p:sp>
        <p:nvSpPr>
          <p:cNvPr id="47" name="Google Shape;4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first phase — Indexing. This runs only ONCE when you upload the document.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1 — Upload Doc: The user provides a file. PDF, Word, plain text — anything with readable content.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2 — Extract Text: We scrape the raw text out of the document. Libraries like PyMuPDF or pdfplumber do this.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3 — Split into Chunks: We don't feed the whole document to the AI at once — that's too large. We break it into smaller pieces, typically around 300-500 tokens each. Think of each chunk as one paragraph or section.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4 — Create Embeddings: Each chunk gets converted into a list of numbers — called a vector or embedding. This is done by an embedding model like OpenAI's text-embedding-ada or a local model. Similar text gets similar numbers.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5 — Store in FAISS: FAISS is a library by Meta that stores these vectors and lets us search through them extremely fast. Think of it as a smart index.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Once this is done, your document is ready to be queried. No need to repeat this step unless the document changes.</a:t>
            </a:r>
            <a:endParaRPr/>
          </a:p>
        </p:txBody>
      </p:sp>
      <p:sp>
        <p:nvSpPr>
          <p:cNvPr id="73" name="Google Shape;7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Now this is what happens every time someone asks a question — the query phase.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1 — User Question: Someone types a question in plain English. Example: "What is the refund policy?"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2 — Embed Query: That question goes through the SAME embedding model we used earlier. It becomes a vector too.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3 — Search FAISS: We compare the question's vector against all the chunk vectors stored in FAISS. FAISS returns the top 3-5 most similar chunks — these are the most relevant sections of the document.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4 — Feed to LLM: We now build a prompt that says: "Here are some relevant sections from the document. Based on this, answer the question." This is called prompt augmentation.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Step 5 — Generate Answer: The LLM reads the retrieved chunks and writes a precise answer — grounded in the actual document, not guesswork.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Key point: The LLM never reads the full document. It only sees the 3-5 most relevant chunks. This keeps it fast and focused.</a:t>
            </a:r>
            <a:endParaRPr/>
          </a:p>
        </p:txBody>
      </p:sp>
      <p:sp>
        <p:nvSpPr>
          <p:cNvPr id="106" name="Google Shape;106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Alright — let me show you what I actually built.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I made a simple RAG app where you upload any document, ask questions about it, and get answers.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Walk through what happens under the hood:</a:t>
            </a:r>
            <a:br>
              <a:rPr lang="en-US"/>
            </a:br>
            <a:r>
              <a:rPr lang="en-US"/>
              <a:t>- When you upload: the app runs Phase 1 automatically. It extracts text, chunks it, creates embeddings, and stores them in FAISS.</a:t>
            </a:r>
            <a:br>
              <a:rPr lang="en-US"/>
            </a:br>
            <a:r>
              <a:rPr lang="en-US"/>
              <a:t>- When you ask a question: the app runs Phase 2. It embeds the question, searches FAISS, finds the top chunks, and passes everything to an LLM.</a:t>
            </a:r>
            <a:br>
              <a:rPr lang="en-US"/>
            </a:br>
            <a:r>
              <a:rPr lang="en-US"/>
              <a:t>- The answer you see is 100% grounded in the document you uploaded.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[Switch to demo — run a live example here]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Try asking something specific that's inside the document — notice how it gives a precise answer, not a generic one.</a:t>
            </a:r>
            <a:endParaRPr/>
          </a:p>
        </p:txBody>
      </p:sp>
      <p:sp>
        <p:nvSpPr>
          <p:cNvPr id="139" name="Google Shape;13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Let's quickly recap what we covered.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Point 1: RAG is not magic. It's a straightforward pattern — connect the AI to your documents.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Point 2: Indexing happens once. This is the heavy lifting — reading the doc, chunking it, embedding it, storing in FAISS. You do this once per document.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Point 3: Querying is fast. Every question goes through a quick embed + FAISS search + LLM call. This happens in seconds.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Point 4: The LLM is NOT making things up. It's reading specific chunks from your document. That's what makes RAG reliable.</a:t>
            </a:r>
            <a:br>
              <a:rPr lang="en-US"/>
            </a:br>
            <a:r>
              <a:rPr lang="en-US"/>
              <a:t/>
            </a:r>
            <a:br>
              <a:rPr lang="en-US"/>
            </a:br>
            <a:r>
              <a:rPr lang="en-US"/>
              <a:t>Any questions? Happy to go deeper on any step — embeddings, FAISS, chunk size, or the LLM prompt structure.</a:t>
            </a:r>
            <a:endParaRPr/>
          </a:p>
        </p:txBody>
      </p:sp>
      <p:sp>
        <p:nvSpPr>
          <p:cNvPr id="161" name="Google Shape;16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200400" y="320040"/>
            <a:ext cx="2743200" cy="64008"/>
          </a:xfrm>
          <a:prstGeom prst="roundRect">
            <a:avLst>
              <a:gd name="adj" fmla="val 42857"/>
            </a:avLst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lang="en-US" sz="4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RAG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2000"/>
              <a:buFont typeface="Calibri"/>
              <a:buNone/>
            </a:pPr>
            <a:r>
              <a:rPr lang="en-US" sz="2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457200" y="45720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3566160"/>
            <a:ext cx="118872" cy="118872"/>
          </a:xfrm>
          <a:prstGeom prst="ellipse">
            <a:avLst/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31520" y="3749040"/>
            <a:ext cx="73152" cy="73152"/>
          </a:xfrm>
          <a:prstGeom prst="ellipse">
            <a:avLst/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412480" y="1005840"/>
            <a:ext cx="100584" cy="100584"/>
          </a:xfrm>
          <a:prstGeom prst="ellipse">
            <a:avLst/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641080" y="1280160"/>
            <a:ext cx="64008" cy="64008"/>
          </a:xfrm>
          <a:prstGeom prst="ellipse">
            <a:avLst/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What is RAG?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5760" y="96012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254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 txBox="1"/>
          <p:nvPr/>
        </p:nvSpPr>
        <p:spPr>
          <a:xfrm>
            <a:off x="594360" y="10972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RAG stands for: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594360" y="1463040"/>
            <a:ext cx="4663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2500"/>
              <a:buFont typeface="Calibri"/>
              <a:buNone/>
            </a:pPr>
            <a:r>
              <a:rPr lang="en-US" sz="25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2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etrieval  </a:t>
            </a:r>
            <a:r>
              <a:rPr lang="en-US" sz="25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ugmented  </a:t>
            </a:r>
            <a:r>
              <a:rPr lang="en-US" sz="25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G</a:t>
            </a:r>
            <a:r>
              <a:rPr lang="en-US" sz="25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eneration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94360" y="224028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Calibri"/>
              <a:buNone/>
            </a:pPr>
            <a:r>
              <a:rPr lang="en-US" sz="15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technique that enhances AI by connecting it to external knowledge </a:t>
            </a:r>
            <a:r>
              <a:rPr lang="en-US" sz="1500" b="0" i="0" u="none" strike="noStrike" cap="none" dirty="0" smtClean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1500" b="0" i="0" u="none" strike="noStrike" cap="none" dirty="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 it answers using YOUR documents, not just its training data.</a:t>
            </a:r>
            <a:endParaRPr sz="15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94360" y="3657600"/>
            <a:ext cx="46634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300"/>
              <a:buFont typeface="Calibri"/>
              <a:buNone/>
            </a:pP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760720" y="960120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 txBox="1"/>
          <p:nvPr/>
        </p:nvSpPr>
        <p:spPr>
          <a:xfrm>
            <a:off x="5943600" y="10515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5943600" y="149047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Finds relevant info from your docs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760720" y="2221992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4"/>
          <p:cNvSpPr txBox="1"/>
          <p:nvPr/>
        </p:nvSpPr>
        <p:spPr>
          <a:xfrm>
            <a:off x="5943600" y="231343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Augmented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5943600" y="27523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Adds that context to the AI prompt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760720" y="3483864"/>
            <a:ext cx="3017520" cy="1078992"/>
          </a:xfrm>
          <a:prstGeom prst="roundRect">
            <a:avLst>
              <a:gd name="adj" fmla="val 6780"/>
            </a:avLst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5943600" y="357530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5943600" y="4014216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AI crafts a grounded answer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/>
          <p:nvPr/>
        </p:nvSpPr>
        <p:spPr>
          <a:xfrm>
            <a:off x="457200" y="20116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Why Do We Need RAG?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365760" y="96012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EF2F2"/>
          </a:solidFill>
          <a:ln w="25400" cap="flat" cmpd="sng">
            <a:solidFill>
              <a:srgbClr val="EF444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594360" y="111556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Without RAG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66928" y="17373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621792" y="17830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  x   Knows only its training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66928" y="24231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 txBox="1"/>
          <p:nvPr/>
        </p:nvSpPr>
        <p:spPr>
          <a:xfrm>
            <a:off x="621792" y="24688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  x   Information can be outdated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66928" y="31089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621792" y="31546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  x   Cannot access private docs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566928" y="37947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2700" cap="flat" cmpd="sng">
            <a:solidFill>
              <a:srgbClr val="FEE2E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621792" y="38404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  x   May hallucinate answers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846320" y="96012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F0FDF4"/>
          </a:solidFill>
          <a:ln w="254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5074920" y="1115568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With RAG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047488" y="17373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 txBox="1"/>
          <p:nvPr/>
        </p:nvSpPr>
        <p:spPr>
          <a:xfrm>
            <a:off x="5102352" y="17830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  +   Retrieves from your own data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047488" y="24231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5102352" y="24688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  +   Always current and accurate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47488" y="31089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 txBox="1"/>
          <p:nvPr/>
        </p:nvSpPr>
        <p:spPr>
          <a:xfrm>
            <a:off x="5102352" y="31546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  +   Works with private documents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047488" y="3794760"/>
            <a:ext cx="3520440" cy="54864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 cap="flat" cmpd="sng">
            <a:solidFill>
              <a:srgbClr val="DCFCE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/>
          <p:cNvSpPr txBox="1"/>
          <p:nvPr/>
        </p:nvSpPr>
        <p:spPr>
          <a:xfrm>
            <a:off x="5102352" y="384048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532D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14532D"/>
                </a:solidFill>
                <a:latin typeface="Calibri"/>
                <a:ea typeface="Calibri"/>
                <a:cs typeface="Calibri"/>
                <a:sym typeface="Calibri"/>
              </a:rPr>
              <a:t>  +   Grounded, reliable answers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1: Indexing Your Document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Happens once — before any question is asked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30936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0EA5E9"/>
          </a:solidFill>
          <a:ln w="12700" cap="flat" cmpd="sng">
            <a:solidFill>
              <a:srgbClr val="0EA5E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6"/>
          <p:cNvSpPr txBox="1"/>
          <p:nvPr/>
        </p:nvSpPr>
        <p:spPr>
          <a:xfrm>
            <a:off x="630936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630936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2002536" y="17602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585216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PDF/text file provided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258568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2258568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2258568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3630168" y="17602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2212848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Raw text scraped out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886200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 txBox="1"/>
          <p:nvPr/>
        </p:nvSpPr>
        <p:spPr>
          <a:xfrm>
            <a:off x="3886200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3886200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Split into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Chunks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5257800" y="17602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3840480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Broken into ~500 token pieces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513832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6"/>
          <p:cNvSpPr txBox="1"/>
          <p:nvPr/>
        </p:nvSpPr>
        <p:spPr>
          <a:xfrm>
            <a:off x="5513832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5513832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6885432" y="17602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5468112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Each chunk -&gt; numeric vector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141464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6"/>
          <p:cNvSpPr txBox="1"/>
          <p:nvPr/>
        </p:nvSpPr>
        <p:spPr>
          <a:xfrm>
            <a:off x="7141464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7141464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Store in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7095744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Vectors indexed for fast search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41148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640080" y="420624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This phase runs ONCE when you upload the document. The output is a searchable vector index stored in FAISS.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/>
        </p:nvSpPr>
        <p:spPr>
          <a:xfrm>
            <a:off x="457200" y="164592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2: Answering Your Question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 txBox="1"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Happens every time a user asks a question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30936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 w="12700" cap="flat" cmpd="sng">
            <a:solidFill>
              <a:srgbClr val="F9731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630936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630936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2002536" y="17602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585216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Ask in plain English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2258568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2258568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2258568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Embed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3630168" y="17602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2212848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Question -&gt; vector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886200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8B5CF6"/>
          </a:solidFill>
          <a:ln w="12700" cap="flat" cmpd="sng">
            <a:solidFill>
              <a:srgbClr val="8B5C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3886200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3886200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5257800" y="17602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3840480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Find similar chunks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513832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A855F7"/>
          </a:solidFill>
          <a:ln w="12700" cap="flat" cmpd="sng">
            <a:solidFill>
              <a:srgbClr val="A855F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7"/>
          <p:cNvSpPr txBox="1"/>
          <p:nvPr/>
        </p:nvSpPr>
        <p:spPr>
          <a:xfrm>
            <a:off x="5513832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 txBox="1"/>
          <p:nvPr/>
        </p:nvSpPr>
        <p:spPr>
          <a:xfrm>
            <a:off x="5513832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Feed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 LLM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 txBox="1"/>
          <p:nvPr/>
        </p:nvSpPr>
        <p:spPr>
          <a:xfrm>
            <a:off x="6885432" y="1760220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 txBox="1"/>
          <p:nvPr/>
        </p:nvSpPr>
        <p:spPr>
          <a:xfrm>
            <a:off x="5468112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Chunks + question -&gt; prompt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141464" y="1170432"/>
            <a:ext cx="1371600" cy="1508760"/>
          </a:xfrm>
          <a:prstGeom prst="roundRect">
            <a:avLst>
              <a:gd name="adj" fmla="val 6667"/>
            </a:avLst>
          </a:prstGeom>
          <a:solidFill>
            <a:srgbClr val="10B981"/>
          </a:solidFill>
          <a:ln w="12700" cap="flat" cmpd="sng">
            <a:solidFill>
              <a:srgbClr val="10B9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7141464" y="1243584"/>
            <a:ext cx="1371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 txBox="1"/>
          <p:nvPr/>
        </p:nvSpPr>
        <p:spPr>
          <a:xfrm>
            <a:off x="7141464" y="1572768"/>
            <a:ext cx="1371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 txBox="1"/>
          <p:nvPr/>
        </p:nvSpPr>
        <p:spPr>
          <a:xfrm>
            <a:off x="7095744" y="2843784"/>
            <a:ext cx="14630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LLM writes the response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457200" y="4114800"/>
            <a:ext cx="8229600" cy="621792"/>
          </a:xfrm>
          <a:prstGeom prst="roundRect">
            <a:avLst>
              <a:gd name="adj" fmla="val 11765"/>
            </a:avLst>
          </a:prstGeom>
          <a:solidFill>
            <a:srgbClr val="1E293B"/>
          </a:solidFill>
          <a:ln w="12700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"/>
          <p:cNvSpPr txBox="1"/>
          <p:nvPr/>
        </p:nvSpPr>
        <p:spPr>
          <a:xfrm>
            <a:off x="640080" y="420624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This phase runs on EVERY question. FAISS retrieves the most relevant chunks — the LLM never sees the full document.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/>
        </p:nvSpPr>
        <p:spPr>
          <a:xfrm>
            <a:off x="457200" y="25603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457200" y="98755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A5B4FC"/>
                </a:solidFill>
                <a:latin typeface="Calibri"/>
                <a:ea typeface="Calibri"/>
                <a:cs typeface="Calibri"/>
                <a:sym typeface="Calibri"/>
              </a:rPr>
              <a:t>A small RAG app — built to show this in action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94360" y="150876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905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527048" y="1664208"/>
            <a:ext cx="621792" cy="621792"/>
          </a:xfrm>
          <a:prstGeom prst="ellipse">
            <a:avLst/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1527048" y="166420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731520" y="2450592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Upload a Document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731520" y="2999232"/>
            <a:ext cx="22402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Drop in a PDF or text file. The app extracts, chunks, embeds and indexes it automatically.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337560" y="150876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905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270248" y="1664208"/>
            <a:ext cx="621792" cy="621792"/>
          </a:xfrm>
          <a:prstGeom prst="ellipse">
            <a:avLst/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4270248" y="166420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3474720" y="2450592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Ask a Question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3474720" y="2999232"/>
            <a:ext cx="22402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Type your question in plain English. The app embeds it and searches FAISS for relevant chunks.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080760" y="1508760"/>
            <a:ext cx="2514600" cy="32004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 w="1905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7013448" y="1664208"/>
            <a:ext cx="621792" cy="621792"/>
          </a:xfrm>
          <a:prstGeom prst="ellipse">
            <a:avLst/>
          </a:prstGeom>
          <a:solidFill>
            <a:srgbClr val="6366F1"/>
          </a:solidFill>
          <a:ln w="12700" cap="flat" cmpd="sng">
            <a:solidFill>
              <a:srgbClr val="6366F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7013448" y="1664208"/>
            <a:ext cx="6217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6217920" y="2450592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 a Precise Answer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6217920" y="2999232"/>
            <a:ext cx="22402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LLM reads the retrieved context and generates an accurate, grounded response.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366F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511701" y="201168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31520" y="987552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4F46E5"/>
          </a:solidFill>
          <a:ln w="127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868680" y="1097280"/>
            <a:ext cx="475488" cy="475488"/>
          </a:xfrm>
          <a:prstGeom prst="ellipse">
            <a:avLst/>
          </a:prstGeom>
          <a:solidFill>
            <a:srgbClr val="A5B4FC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868680" y="109728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1508760" y="1143000"/>
            <a:ext cx="6720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RAG = AI + Your own documents (not just training data)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731520" y="1856232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4F46E5"/>
          </a:solidFill>
          <a:ln w="127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868680" y="1965960"/>
            <a:ext cx="475488" cy="475488"/>
          </a:xfrm>
          <a:prstGeom prst="ellipse">
            <a:avLst/>
          </a:prstGeom>
          <a:solidFill>
            <a:srgbClr val="A5B4FC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868680" y="196596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1508760" y="2011680"/>
            <a:ext cx="6720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1 (Indexing) runs once: Doc -&gt; Text -&gt; Chunks -&gt; Embeddings -&gt; FAISS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731520" y="2724912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4F46E5"/>
          </a:solidFill>
          <a:ln w="127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868680" y="2834640"/>
            <a:ext cx="475488" cy="475488"/>
          </a:xfrm>
          <a:prstGeom prst="ellipse">
            <a:avLst/>
          </a:prstGeom>
          <a:solidFill>
            <a:srgbClr val="A5B4FC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9"/>
          <p:cNvSpPr txBox="1"/>
          <p:nvPr/>
        </p:nvSpPr>
        <p:spPr>
          <a:xfrm>
            <a:off x="868680" y="28346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1508760" y="2880360"/>
            <a:ext cx="6720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Phase 2 (Query) runs every time: Question -&gt; Search FAISS -&gt; LLM -&gt; Answer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731520" y="3593592"/>
            <a:ext cx="7680960" cy="713232"/>
          </a:xfrm>
          <a:prstGeom prst="roundRect">
            <a:avLst>
              <a:gd name="adj" fmla="val 10256"/>
            </a:avLst>
          </a:prstGeom>
          <a:solidFill>
            <a:srgbClr val="4F46E5"/>
          </a:solidFill>
          <a:ln w="12700" cap="flat" cmpd="sng">
            <a:solidFill>
              <a:srgbClr val="4F46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868680" y="3703320"/>
            <a:ext cx="475488" cy="475488"/>
          </a:xfrm>
          <a:prstGeom prst="ellipse">
            <a:avLst/>
          </a:prstGeom>
          <a:solidFill>
            <a:srgbClr val="A5B4FC"/>
          </a:solidFill>
          <a:ln w="12700" cap="flat" cmpd="sng">
            <a:solidFill>
              <a:srgbClr val="A5B4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 txBox="1"/>
          <p:nvPr/>
        </p:nvSpPr>
        <p:spPr>
          <a:xfrm>
            <a:off x="868680" y="370332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1508760" y="3749040"/>
            <a:ext cx="672084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LLM never guesses — it reads YOUR content and then responds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5B4FC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513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Sidhant</cp:lastModifiedBy>
  <cp:revision>1</cp:revision>
  <dcterms:modified xsi:type="dcterms:W3CDTF">2026-10-20T17:11:19Z</dcterms:modified>
</cp:coreProperties>
</file>